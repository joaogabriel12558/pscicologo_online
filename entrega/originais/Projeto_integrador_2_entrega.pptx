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76" r:id="rId3"/>
    <p:sldId id="264" r:id="rId4"/>
    <p:sldId id="267" r:id="rId5"/>
    <p:sldId id="282" r:id="rId6"/>
    <p:sldId id="281" r:id="rId7"/>
    <p:sldId id="275" r:id="rId8"/>
    <p:sldId id="283" r:id="rId9"/>
    <p:sldId id="285" r:id="rId10"/>
    <p:sldId id="266" r:id="rId11"/>
    <p:sldId id="284" r:id="rId12"/>
    <p:sldId id="277" r:id="rId13"/>
    <p:sldId id="286" r:id="rId14"/>
    <p:sldId id="280" r:id="rId15"/>
    <p:sldId id="270" r:id="rId16"/>
    <p:sldId id="262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" name="Shape 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>
        <a:latin typeface="+mn-lt"/>
        <a:ea typeface="+mn-ea"/>
        <a:cs typeface="+mn-cs"/>
        <a:sym typeface="Helvetica Neue"/>
      </a:defRPr>
    </a:lvl1pPr>
    <a:lvl2pPr indent="228600" latinLnBrk="0">
      <a:defRPr>
        <a:latin typeface="+mn-lt"/>
        <a:ea typeface="+mn-ea"/>
        <a:cs typeface="+mn-cs"/>
        <a:sym typeface="Helvetica Neue"/>
      </a:defRPr>
    </a:lvl2pPr>
    <a:lvl3pPr indent="457200" latinLnBrk="0">
      <a:defRPr>
        <a:latin typeface="+mn-lt"/>
        <a:ea typeface="+mn-ea"/>
        <a:cs typeface="+mn-cs"/>
        <a:sym typeface="Helvetica Neue"/>
      </a:defRPr>
    </a:lvl3pPr>
    <a:lvl4pPr indent="685800" latinLnBrk="0">
      <a:defRPr>
        <a:latin typeface="+mn-lt"/>
        <a:ea typeface="+mn-ea"/>
        <a:cs typeface="+mn-cs"/>
        <a:sym typeface="Helvetica Neue"/>
      </a:defRPr>
    </a:lvl4pPr>
    <a:lvl5pPr indent="914400" latinLnBrk="0">
      <a:defRPr>
        <a:latin typeface="+mn-lt"/>
        <a:ea typeface="+mn-ea"/>
        <a:cs typeface="+mn-cs"/>
        <a:sym typeface="Helvetica Neue"/>
      </a:defRPr>
    </a:lvl5pPr>
    <a:lvl6pPr indent="1143000" latinLnBrk="0">
      <a:defRPr>
        <a:latin typeface="+mn-lt"/>
        <a:ea typeface="+mn-ea"/>
        <a:cs typeface="+mn-cs"/>
        <a:sym typeface="Helvetica Neue"/>
      </a:defRPr>
    </a:lvl6pPr>
    <a:lvl7pPr indent="1371600" latinLnBrk="0">
      <a:defRPr>
        <a:latin typeface="+mn-lt"/>
        <a:ea typeface="+mn-ea"/>
        <a:cs typeface="+mn-cs"/>
        <a:sym typeface="Helvetica Neue"/>
      </a:defRPr>
    </a:lvl7pPr>
    <a:lvl8pPr indent="1600200" latinLnBrk="0">
      <a:defRPr>
        <a:latin typeface="+mn-lt"/>
        <a:ea typeface="+mn-ea"/>
        <a:cs typeface="+mn-cs"/>
        <a:sym typeface="Helvetica Neue"/>
      </a:defRPr>
    </a:lvl8pPr>
    <a:lvl9pPr indent="1828800" latinLnBrk="0">
      <a:defRPr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95563-387C-CE88-9BCB-ABA9ECD23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B5D5832-C01C-9E0A-50DD-AA8521EB0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EE0156A-7C28-19DF-AA25-18D1464C6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1404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ABA23-D3D1-7A62-C1EF-994A90F63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1A0B3E1-066C-BB07-B97A-91AC14E13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C5B725-DB04-D161-3025-38B0139E8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8734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713FE-8AA0-59FD-8B67-98A4CB4B3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BBF2C19-578F-0A4E-2E7A-DE93D0DBB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65254C0-2672-5B79-E536-40DF9847F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7090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97086-3569-578D-381D-FAC797F72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CE5D53-5C54-0936-7E29-537F74777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E162C0B-7858-2205-27EC-5AE214DF1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3627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54109-13D3-CB37-EFD6-9329C4901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51C7B2B-30D8-C5D7-5506-A0FD22BCD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50A884-0D40-F4ED-FF1F-4185D4745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9909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BB542-C7A8-538A-ACCB-2560CE553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00B1126-E24E-2D8D-588F-CBE541805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E8ED9A0-DDB0-4A0A-3D6F-A26703EA5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0302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AF9D2-3117-81AA-EA5A-50C3BD0B2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EC73F6D-E0E0-FDE5-D606-038289857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15EF09-7F97-1BF3-2C7D-F7672FA08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5179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998AA-B4F4-3394-B4FC-B2409C611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EE24E07-547C-3153-651B-D6605EB00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53E49D-B07E-CC8D-91FB-E8A7997A8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1718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83686-F86E-1F3C-677F-7549ABD71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6CE6A13-5266-44D7-BF59-D0D893D45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73C8EB4-A224-6F56-F3D9-E16F28C43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8031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.jpeg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826683" y="1371600"/>
            <a:ext cx="9753601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37974" y="6378575"/>
            <a:ext cx="244426" cy="24164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1F497D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1F497D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1F497D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1F497D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1F497D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1F497D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1F497D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1F497D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1F497D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microsoft.com/office/2007/relationships/hdphoto" Target="../media/hdphoto1.wdp"/><Relationship Id="rId7" Type="http://schemas.openxmlformats.org/officeDocument/2006/relationships/image" Target="../media/image2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11" Type="http://schemas.openxmlformats.org/officeDocument/2006/relationships/hyperlink" Target="https://www.alura.com.br/artigos/o-que-e-git-github?gclid=CjwKCAjw0ZiiBhBKEiwA4PT9zwMQkDlyu7lLI7sCKP8cM9P5v7eJShqzjb52PxQTkELKk4VO1tBqyBoChkIQAvD_BwE" TargetMode="External"/><Relationship Id="rId5" Type="http://schemas.openxmlformats.org/officeDocument/2006/relationships/image" Target="../media/image19.svg"/><Relationship Id="rId10" Type="http://schemas.openxmlformats.org/officeDocument/2006/relationships/hyperlink" Target="https://docs.github.com/pt/get-started/start-your-journey/hello-world" TargetMode="External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www.youtube.com/watch?v=S_6xiv7Lc1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og.nectarcrm.com.br/o-que-e-prova-de-conceito/" TargetMode="External"/><Relationship Id="rId5" Type="http://schemas.openxmlformats.org/officeDocument/2006/relationships/hyperlink" Target="https://www.youtube.com/watch?v=i6eCqdpZJng&amp;t=9" TargetMode="Externa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microsoft.com/office/2007/relationships/hdphoto" Target="../media/hdphoto1.wdp"/><Relationship Id="rId4" Type="http://schemas.openxmlformats.org/officeDocument/2006/relationships/image" Target="../media/image7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apa_EAD capa.jpg" descr="capa_EAD ca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75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WEBCONFERÊNCIA…"/>
          <p:cNvSpPr txBox="1">
            <a:spLocks noGrp="1"/>
          </p:cNvSpPr>
          <p:nvPr>
            <p:ph type="title" idx="4294967295"/>
          </p:nvPr>
        </p:nvSpPr>
        <p:spPr>
          <a:xfrm>
            <a:off x="2051384" y="5498400"/>
            <a:ext cx="9132644" cy="792289"/>
          </a:xfrm>
          <a:prstGeom prst="rect">
            <a:avLst/>
          </a:prstGeom>
        </p:spPr>
        <p:txBody>
          <a:bodyPr>
            <a:noAutofit/>
          </a:bodyPr>
          <a:lstStyle/>
          <a:p>
            <a:pPr marL="541337" indent="-528637">
              <a:lnSpc>
                <a:spcPts val="3300"/>
              </a:lnSpc>
              <a:spcBef>
                <a:spcPts val="800"/>
              </a:spcBef>
              <a:defRPr sz="3600" b="1">
                <a:solidFill>
                  <a:srgbClr val="00498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pt-BR" sz="2800" b="1" i="1" dirty="0"/>
              <a:t> 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PROJETO INTEGRADOR: DESENVOLVIMENTO DE SISTEMAS ORIENTADO A DISPOSITIVOS MÓVEIS E BASEADOS NA WEB </a:t>
            </a:r>
            <a:br>
              <a:rPr lang="pt-BR" sz="20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pt-BR" sz="2000" dirty="0">
                <a:solidFill>
                  <a:schemeClr val="tx1"/>
                </a:solidFill>
              </a:rPr>
              <a:t>2º Etapa – Projeto Integrador – </a:t>
            </a:r>
            <a:r>
              <a:rPr lang="pt-BR" sz="2000" dirty="0" err="1">
                <a:solidFill>
                  <a:schemeClr val="tx1"/>
                </a:solidFill>
              </a:rPr>
              <a:t>Prof.Me</a:t>
            </a:r>
            <a:r>
              <a:rPr lang="pt-BR" sz="2000" dirty="0">
                <a:solidFill>
                  <a:schemeClr val="tx1"/>
                </a:solidFill>
              </a:rPr>
              <a:t> Anderson Clayton</a:t>
            </a:r>
            <a:endParaRPr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9D0AF-F91A-EA98-D81A-32A2E382C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">
            <a:extLst>
              <a:ext uri="{FF2B5EF4-FFF2-40B4-BE49-F238E27FC236}">
                <a16:creationId xmlns:a16="http://schemas.microsoft.com/office/drawing/2014/main" id="{E12C1FAE-72C1-6916-2299-84969C048449}"/>
              </a:ext>
            </a:extLst>
          </p:cNvPr>
          <p:cNvSpPr/>
          <p:nvPr/>
        </p:nvSpPr>
        <p:spPr>
          <a:xfrm>
            <a:off x="1" y="-38100"/>
            <a:ext cx="12206576" cy="510361"/>
          </a:xfrm>
          <a:prstGeom prst="rect">
            <a:avLst/>
          </a:prstGeom>
          <a:solidFill>
            <a:srgbClr val="1B4582"/>
          </a:solidFill>
          <a:ln w="25400">
            <a:solidFill>
              <a:srgbClr val="1B458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" name="SENAC EAD TECNOLOGIA EM GASTRONOMIA">
            <a:extLst>
              <a:ext uri="{FF2B5EF4-FFF2-40B4-BE49-F238E27FC236}">
                <a16:creationId xmlns:a16="http://schemas.microsoft.com/office/drawing/2014/main" id="{0A275131-50EA-82F3-0399-C8DC6E44DC01}"/>
              </a:ext>
            </a:extLst>
          </p:cNvPr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b="0" dirty="0"/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682DB183-69AE-D8B1-8CAF-78FCE4512E19}"/>
              </a:ext>
            </a:extLst>
          </p:cNvPr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" name="SENAC EAD TECNOLOGIA EM GASTRONOMIA">
            <a:extLst>
              <a:ext uri="{FF2B5EF4-FFF2-40B4-BE49-F238E27FC236}">
                <a16:creationId xmlns:a16="http://schemas.microsoft.com/office/drawing/2014/main" id="{9DF3190C-019D-494E-5F83-5B6EA5E9985C}"/>
              </a:ext>
            </a:extLst>
          </p:cNvPr>
          <p:cNvSpPr txBox="1"/>
          <p:nvPr/>
        </p:nvSpPr>
        <p:spPr>
          <a:xfrm>
            <a:off x="297201" y="100625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SENAC EAD </a:t>
            </a:r>
            <a:r>
              <a:rPr lang="pt-BR" dirty="0"/>
              <a:t>– TADS / TSI </a:t>
            </a:r>
            <a:endParaRPr b="0" dirty="0"/>
          </a:p>
        </p:txBody>
      </p:sp>
      <p:sp>
        <p:nvSpPr>
          <p:cNvPr id="3" name="DISCIPLINA - HABILIDADES DE CONFEITARIA">
            <a:extLst>
              <a:ext uri="{FF2B5EF4-FFF2-40B4-BE49-F238E27FC236}">
                <a16:creationId xmlns:a16="http://schemas.microsoft.com/office/drawing/2014/main" id="{C965DF11-C896-79E8-990C-286829D7254B}"/>
              </a:ext>
            </a:extLst>
          </p:cNvPr>
          <p:cNvSpPr txBox="1"/>
          <p:nvPr/>
        </p:nvSpPr>
        <p:spPr>
          <a:xfrm>
            <a:off x="5543297" y="124250"/>
            <a:ext cx="6663280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defTabSz="457200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lang="pt-BR" b="1" dirty="0"/>
              <a:t>Projeto  Integrador Desenvolvimento  de Sistemas Orientado Dispositivos moveis  </a:t>
            </a:r>
            <a:endParaRPr b="1" dirty="0"/>
          </a:p>
        </p:txBody>
      </p:sp>
      <p:pic>
        <p:nvPicPr>
          <p:cNvPr id="7" name="Imagem 6" descr="Texto, Quadro de comunicações&#10;&#10;O conteúdo gerado por IA pode estar incorreto.">
            <a:extLst>
              <a:ext uri="{FF2B5EF4-FFF2-40B4-BE49-F238E27FC236}">
                <a16:creationId xmlns:a16="http://schemas.microsoft.com/office/drawing/2014/main" id="{D83CCE26-BB74-9F91-BBE4-DAF16A100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691" y="906033"/>
            <a:ext cx="9406617" cy="504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99967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588C2-1535-3E14-8719-1A0A52A4C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">
            <a:extLst>
              <a:ext uri="{FF2B5EF4-FFF2-40B4-BE49-F238E27FC236}">
                <a16:creationId xmlns:a16="http://schemas.microsoft.com/office/drawing/2014/main" id="{15238656-8186-6461-A090-680BC0E3918F}"/>
              </a:ext>
            </a:extLst>
          </p:cNvPr>
          <p:cNvSpPr/>
          <p:nvPr/>
        </p:nvSpPr>
        <p:spPr>
          <a:xfrm>
            <a:off x="1" y="-38100"/>
            <a:ext cx="12206576" cy="510361"/>
          </a:xfrm>
          <a:prstGeom prst="rect">
            <a:avLst/>
          </a:prstGeom>
          <a:solidFill>
            <a:srgbClr val="1B4582"/>
          </a:solidFill>
          <a:ln w="25400">
            <a:solidFill>
              <a:srgbClr val="1B458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" name="SENAC EAD TECNOLOGIA EM GASTRONOMIA">
            <a:extLst>
              <a:ext uri="{FF2B5EF4-FFF2-40B4-BE49-F238E27FC236}">
                <a16:creationId xmlns:a16="http://schemas.microsoft.com/office/drawing/2014/main" id="{5243787B-A8D5-6BC3-1153-21C3801179B2}"/>
              </a:ext>
            </a:extLst>
          </p:cNvPr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b="0" dirty="0"/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B176DC2F-909A-D25E-FE0A-D1A7092A8223}"/>
              </a:ext>
            </a:extLst>
          </p:cNvPr>
          <p:cNvSpPr/>
          <p:nvPr/>
        </p:nvSpPr>
        <p:spPr>
          <a:xfrm>
            <a:off x="-4970" y="485623"/>
            <a:ext cx="13590475" cy="70370"/>
          </a:xfrm>
          <a:prstGeom prst="rect">
            <a:avLst/>
          </a:prstGeom>
          <a:solidFill>
            <a:srgbClr val="E0923C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" name="SENAC EAD TECNOLOGIA EM GASTRONOMIA">
            <a:extLst>
              <a:ext uri="{FF2B5EF4-FFF2-40B4-BE49-F238E27FC236}">
                <a16:creationId xmlns:a16="http://schemas.microsoft.com/office/drawing/2014/main" id="{CF5C52E1-0077-AC4E-3FD5-9584EB1F9C20}"/>
              </a:ext>
            </a:extLst>
          </p:cNvPr>
          <p:cNvSpPr txBox="1"/>
          <p:nvPr/>
        </p:nvSpPr>
        <p:spPr>
          <a:xfrm>
            <a:off x="297201" y="100625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SENAC EAD </a:t>
            </a:r>
            <a:r>
              <a:rPr lang="pt-BR" dirty="0"/>
              <a:t>– TADS / TSI </a:t>
            </a:r>
            <a:endParaRPr b="0" dirty="0"/>
          </a:p>
        </p:txBody>
      </p:sp>
      <p:sp>
        <p:nvSpPr>
          <p:cNvPr id="3" name="DISCIPLINA - HABILIDADES DE CONFEITARIA">
            <a:extLst>
              <a:ext uri="{FF2B5EF4-FFF2-40B4-BE49-F238E27FC236}">
                <a16:creationId xmlns:a16="http://schemas.microsoft.com/office/drawing/2014/main" id="{14B1C5EC-D43D-A241-F502-BB50215F98F1}"/>
              </a:ext>
            </a:extLst>
          </p:cNvPr>
          <p:cNvSpPr txBox="1"/>
          <p:nvPr/>
        </p:nvSpPr>
        <p:spPr>
          <a:xfrm>
            <a:off x="6635261" y="124250"/>
            <a:ext cx="557131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defTabSz="457200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lang="pt-BR" b="1" dirty="0"/>
              <a:t>Projeto  Integrador Desenvolvimento  de Sistemas Orientado a Objetos  </a:t>
            </a:r>
            <a:endParaRPr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9998E10-090F-9ABB-FC04-5F1B992FB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638" y="563595"/>
            <a:ext cx="4049104" cy="553913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56C49E6-A2D1-6067-CBC8-EE462D5C10BE}"/>
              </a:ext>
            </a:extLst>
          </p:cNvPr>
          <p:cNvSpPr txBox="1"/>
          <p:nvPr/>
        </p:nvSpPr>
        <p:spPr>
          <a:xfrm>
            <a:off x="7652925" y="6102725"/>
            <a:ext cx="4306529" cy="369328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Não  deixe para ultima hora 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1A4793-A3B8-06A0-358B-468B11797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70" y="472261"/>
            <a:ext cx="5715000" cy="6335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9DF29F1-3ECA-2C8B-7FAE-873031553062}"/>
              </a:ext>
            </a:extLst>
          </p:cNvPr>
          <p:cNvSpPr/>
          <p:nvPr/>
        </p:nvSpPr>
        <p:spPr>
          <a:xfrm>
            <a:off x="2724912" y="4626864"/>
            <a:ext cx="2249424" cy="844030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7384590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94D74-48F2-B9CC-FF00-BE05D8FB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D0ABF798-2691-985E-3733-6A023968C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559" y="3527383"/>
            <a:ext cx="1782035" cy="1782035"/>
          </a:xfrm>
          <a:prstGeom prst="rect">
            <a:avLst/>
          </a:prstGeom>
        </p:spPr>
      </p:pic>
      <p:sp>
        <p:nvSpPr>
          <p:cNvPr id="32" name="Rectangle">
            <a:extLst>
              <a:ext uri="{FF2B5EF4-FFF2-40B4-BE49-F238E27FC236}">
                <a16:creationId xmlns:a16="http://schemas.microsoft.com/office/drawing/2014/main" id="{A311A42A-E5F7-61F0-6411-528D6DB1F3F7}"/>
              </a:ext>
            </a:extLst>
          </p:cNvPr>
          <p:cNvSpPr/>
          <p:nvPr/>
        </p:nvSpPr>
        <p:spPr>
          <a:xfrm>
            <a:off x="1" y="-38100"/>
            <a:ext cx="12206576" cy="510361"/>
          </a:xfrm>
          <a:prstGeom prst="rect">
            <a:avLst/>
          </a:prstGeom>
          <a:solidFill>
            <a:srgbClr val="1B4582"/>
          </a:solidFill>
          <a:ln w="25400">
            <a:solidFill>
              <a:srgbClr val="1B458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" name="SENAC EAD TECNOLOGIA EM GASTRONOMIA">
            <a:extLst>
              <a:ext uri="{FF2B5EF4-FFF2-40B4-BE49-F238E27FC236}">
                <a16:creationId xmlns:a16="http://schemas.microsoft.com/office/drawing/2014/main" id="{A4F0547D-EE7C-9AF8-120B-2B8235BC1E6B}"/>
              </a:ext>
            </a:extLst>
          </p:cNvPr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b="0" dirty="0"/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3B9AC4CE-7E5C-389D-6CCF-C506FFDD3EFB}"/>
              </a:ext>
            </a:extLst>
          </p:cNvPr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" name="SENAC EAD TECNOLOGIA EM GASTRONOMIA">
            <a:extLst>
              <a:ext uri="{FF2B5EF4-FFF2-40B4-BE49-F238E27FC236}">
                <a16:creationId xmlns:a16="http://schemas.microsoft.com/office/drawing/2014/main" id="{E2BCEF52-9E6D-37EB-7367-DD9CBB1170BD}"/>
              </a:ext>
            </a:extLst>
          </p:cNvPr>
          <p:cNvSpPr txBox="1"/>
          <p:nvPr/>
        </p:nvSpPr>
        <p:spPr>
          <a:xfrm>
            <a:off x="297201" y="100625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SENAC EAD </a:t>
            </a:r>
            <a:r>
              <a:rPr lang="pt-BR" dirty="0"/>
              <a:t>– TADS / TSI </a:t>
            </a:r>
            <a:endParaRPr b="0" dirty="0"/>
          </a:p>
        </p:txBody>
      </p:sp>
      <p:sp>
        <p:nvSpPr>
          <p:cNvPr id="3" name="DISCIPLINA - HABILIDADES DE CONFEITARIA">
            <a:extLst>
              <a:ext uri="{FF2B5EF4-FFF2-40B4-BE49-F238E27FC236}">
                <a16:creationId xmlns:a16="http://schemas.microsoft.com/office/drawing/2014/main" id="{9D55B86E-D5E2-A7B1-13AC-8965D4FFBDF4}"/>
              </a:ext>
            </a:extLst>
          </p:cNvPr>
          <p:cNvSpPr txBox="1"/>
          <p:nvPr/>
        </p:nvSpPr>
        <p:spPr>
          <a:xfrm>
            <a:off x="10224035" y="75237"/>
            <a:ext cx="181556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defTabSz="457200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lang="pt-BR" b="1" dirty="0"/>
              <a:t>Projeto  Integrador   </a:t>
            </a:r>
            <a:endParaRPr b="1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E77E4B3-FC17-5236-82E0-D9DC7FB27D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2E8FE1F-FC93-F285-A305-1B74F14D0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AD7E4FE-B058-2895-CEB4-A58993CF4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9CB68BA6-E2FE-B3E3-4215-C983549CBA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2265" y="5473912"/>
            <a:ext cx="1309735" cy="1384087"/>
          </a:xfrm>
          <a:prstGeom prst="rect">
            <a:avLst/>
          </a:prstGeom>
        </p:spPr>
      </p:pic>
      <p:pic>
        <p:nvPicPr>
          <p:cNvPr id="13" name="Gráfico 12" descr="Sala com laptops e cadeiras">
            <a:extLst>
              <a:ext uri="{FF2B5EF4-FFF2-40B4-BE49-F238E27FC236}">
                <a16:creationId xmlns:a16="http://schemas.microsoft.com/office/drawing/2014/main" id="{75B480FF-766E-5F1F-4861-9A7F07031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37821" y="472261"/>
            <a:ext cx="4548638" cy="2558609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06F507FD-FF9F-CC7F-6715-B8C72F91E9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82" y="3383006"/>
            <a:ext cx="1773573" cy="984009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DE3DD081-3A06-F29B-F2FF-31D09A6FDA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082" y="4711502"/>
            <a:ext cx="1601558" cy="152648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BC5DD5C-BF10-39ED-E1A1-915FEC971724}"/>
              </a:ext>
            </a:extLst>
          </p:cNvPr>
          <p:cNvSpPr txBox="1"/>
          <p:nvPr/>
        </p:nvSpPr>
        <p:spPr>
          <a:xfrm>
            <a:off x="4804256" y="4990942"/>
            <a:ext cx="6616304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8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Obs</a:t>
            </a:r>
            <a:r>
              <a:rPr kumimoji="0" lang="pt-BR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: Pode haver ajustes e a dinâmica é sistema de Plantão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8B4DAA8-E885-D809-BAED-3D1105CD91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1671" y="1194296"/>
            <a:ext cx="7434956" cy="351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22758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CCF94-0D3D-7836-ADE9-9A825A1D0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">
            <a:extLst>
              <a:ext uri="{FF2B5EF4-FFF2-40B4-BE49-F238E27FC236}">
                <a16:creationId xmlns:a16="http://schemas.microsoft.com/office/drawing/2014/main" id="{AEAA0677-DBC6-44E1-E636-8BD4C536251A}"/>
              </a:ext>
            </a:extLst>
          </p:cNvPr>
          <p:cNvSpPr/>
          <p:nvPr/>
        </p:nvSpPr>
        <p:spPr>
          <a:xfrm>
            <a:off x="1" y="-38100"/>
            <a:ext cx="12206576" cy="510361"/>
          </a:xfrm>
          <a:prstGeom prst="rect">
            <a:avLst/>
          </a:prstGeom>
          <a:solidFill>
            <a:srgbClr val="1B4582"/>
          </a:solidFill>
          <a:ln w="25400">
            <a:solidFill>
              <a:srgbClr val="1B458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" name="SENAC EAD TECNOLOGIA EM GASTRONOMIA">
            <a:extLst>
              <a:ext uri="{FF2B5EF4-FFF2-40B4-BE49-F238E27FC236}">
                <a16:creationId xmlns:a16="http://schemas.microsoft.com/office/drawing/2014/main" id="{733495D6-AF45-8471-6F6A-BB751BF823B0}"/>
              </a:ext>
            </a:extLst>
          </p:cNvPr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b="0" dirty="0"/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37750091-962C-334C-A72D-A1C6CF4C5DA0}"/>
              </a:ext>
            </a:extLst>
          </p:cNvPr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" name="SENAC EAD TECNOLOGIA EM GASTRONOMIA">
            <a:extLst>
              <a:ext uri="{FF2B5EF4-FFF2-40B4-BE49-F238E27FC236}">
                <a16:creationId xmlns:a16="http://schemas.microsoft.com/office/drawing/2014/main" id="{D971C8D2-0980-9141-FB2A-58D16D1C916F}"/>
              </a:ext>
            </a:extLst>
          </p:cNvPr>
          <p:cNvSpPr txBox="1"/>
          <p:nvPr/>
        </p:nvSpPr>
        <p:spPr>
          <a:xfrm>
            <a:off x="297201" y="100625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SENAC EAD </a:t>
            </a:r>
            <a:r>
              <a:rPr lang="pt-BR" dirty="0"/>
              <a:t>– TADS / TSI </a:t>
            </a:r>
            <a:endParaRPr b="0" dirty="0"/>
          </a:p>
        </p:txBody>
      </p:sp>
      <p:sp>
        <p:nvSpPr>
          <p:cNvPr id="3" name="DISCIPLINA - HABILIDADES DE CONFEITARIA">
            <a:extLst>
              <a:ext uri="{FF2B5EF4-FFF2-40B4-BE49-F238E27FC236}">
                <a16:creationId xmlns:a16="http://schemas.microsoft.com/office/drawing/2014/main" id="{8F6E0AD1-05CE-C133-D9E9-34845581B594}"/>
              </a:ext>
            </a:extLst>
          </p:cNvPr>
          <p:cNvSpPr txBox="1"/>
          <p:nvPr/>
        </p:nvSpPr>
        <p:spPr>
          <a:xfrm>
            <a:off x="10273245" y="90052"/>
            <a:ext cx="176635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defTabSz="457200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lang="pt-BR" b="1" dirty="0"/>
              <a:t>Projeto  Integrador   </a:t>
            </a:r>
            <a:endParaRPr b="1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ED555116-A585-8A27-2E08-DCD2F70B30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F071425-689E-BCAC-933D-2570A90C0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2FB5F4C-B1AB-0511-40C0-D92C806C8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04250E8-A015-A94A-292F-E4B63D02CE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2265" y="5473912"/>
            <a:ext cx="1309735" cy="1384087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4E02550-5CD4-956A-C078-D2003DCBAF33}"/>
              </a:ext>
            </a:extLst>
          </p:cNvPr>
          <p:cNvSpPr txBox="1"/>
          <p:nvPr/>
        </p:nvSpPr>
        <p:spPr>
          <a:xfrm>
            <a:off x="5042780" y="3675707"/>
            <a:ext cx="5984341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C2C66D0-45A2-56C7-4C17-07AE7E036C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363" y="1309263"/>
            <a:ext cx="9335851" cy="4865414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6E58B32C-BA9F-067B-2C28-B6C27CAC977D}"/>
              </a:ext>
            </a:extLst>
          </p:cNvPr>
          <p:cNvSpPr txBox="1"/>
          <p:nvPr/>
        </p:nvSpPr>
        <p:spPr>
          <a:xfrm>
            <a:off x="3333134" y="6247944"/>
            <a:ext cx="1283110" cy="369328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badi" panose="020B0604020104020204" pitchFamily="34" charset="0"/>
                <a:sym typeface="Helvetica Neue"/>
              </a:rPr>
              <a:t>1º Entrega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6CC78EF-BC29-6438-04AA-1D9A2AC71D0D}"/>
              </a:ext>
            </a:extLst>
          </p:cNvPr>
          <p:cNvSpPr txBox="1"/>
          <p:nvPr/>
        </p:nvSpPr>
        <p:spPr>
          <a:xfrm>
            <a:off x="7661327" y="6249073"/>
            <a:ext cx="1309735" cy="369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dirty="0">
                <a:latin typeface="Abadi" panose="020B0604020104020204" pitchFamily="34" charset="0"/>
              </a:rPr>
              <a:t>2</a:t>
            </a:r>
            <a:r>
              <a:rPr kumimoji="0" lang="pt-B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badi" panose="020B0604020104020204" pitchFamily="34" charset="0"/>
                <a:sym typeface="Helvetica Neue"/>
              </a:rPr>
              <a:t>º Entrega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DBAC721-B207-5CBC-EB0F-CAB7651758CB}"/>
              </a:ext>
            </a:extLst>
          </p:cNvPr>
          <p:cNvSpPr txBox="1"/>
          <p:nvPr/>
        </p:nvSpPr>
        <p:spPr>
          <a:xfrm>
            <a:off x="2922989" y="734265"/>
            <a:ext cx="6360597" cy="400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sng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Abadi" panose="020B0604020104020204" pitchFamily="34" charset="0"/>
                <a:sym typeface="Helvetica Neue"/>
              </a:rPr>
              <a:t>Qual o nosso Objetivo  em relação ao  Projeto ?</a:t>
            </a:r>
          </a:p>
        </p:txBody>
      </p:sp>
    </p:spTree>
    <p:extLst>
      <p:ext uri="{BB962C8B-B14F-4D97-AF65-F5344CB8AC3E}">
        <p14:creationId xmlns:p14="http://schemas.microsoft.com/office/powerpoint/2010/main" val="329056850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A0EF8-55E1-01D4-0C1F-BB0023F9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">
            <a:extLst>
              <a:ext uri="{FF2B5EF4-FFF2-40B4-BE49-F238E27FC236}">
                <a16:creationId xmlns:a16="http://schemas.microsoft.com/office/drawing/2014/main" id="{E3FD467D-40B9-AA4B-BA2C-05E74D52D5F8}"/>
              </a:ext>
            </a:extLst>
          </p:cNvPr>
          <p:cNvSpPr/>
          <p:nvPr/>
        </p:nvSpPr>
        <p:spPr>
          <a:xfrm>
            <a:off x="1" y="-38100"/>
            <a:ext cx="12206576" cy="510361"/>
          </a:xfrm>
          <a:prstGeom prst="rect">
            <a:avLst/>
          </a:prstGeom>
          <a:solidFill>
            <a:srgbClr val="1B4582"/>
          </a:solidFill>
          <a:ln w="25400">
            <a:solidFill>
              <a:srgbClr val="1B458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" name="SENAC EAD TECNOLOGIA EM GASTRONOMIA">
            <a:extLst>
              <a:ext uri="{FF2B5EF4-FFF2-40B4-BE49-F238E27FC236}">
                <a16:creationId xmlns:a16="http://schemas.microsoft.com/office/drawing/2014/main" id="{2264CC53-79E9-D917-D9CE-E522B8430294}"/>
              </a:ext>
            </a:extLst>
          </p:cNvPr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b="0" dirty="0"/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3C72D566-0CDD-D5E3-AAB8-5B0C7E68DE09}"/>
              </a:ext>
            </a:extLst>
          </p:cNvPr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" name="SENAC EAD TECNOLOGIA EM GASTRONOMIA">
            <a:extLst>
              <a:ext uri="{FF2B5EF4-FFF2-40B4-BE49-F238E27FC236}">
                <a16:creationId xmlns:a16="http://schemas.microsoft.com/office/drawing/2014/main" id="{3D39A7D2-27D6-146B-3404-059A22AC8B0D}"/>
              </a:ext>
            </a:extLst>
          </p:cNvPr>
          <p:cNvSpPr txBox="1"/>
          <p:nvPr/>
        </p:nvSpPr>
        <p:spPr>
          <a:xfrm>
            <a:off x="297201" y="100625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SENAC EAD </a:t>
            </a:r>
            <a:r>
              <a:rPr lang="pt-BR" dirty="0"/>
              <a:t>– TADS / TSI </a:t>
            </a:r>
            <a:endParaRPr b="0" dirty="0"/>
          </a:p>
        </p:txBody>
      </p:sp>
      <p:sp>
        <p:nvSpPr>
          <p:cNvPr id="3" name="DISCIPLINA - HABILIDADES DE CONFEITARIA">
            <a:extLst>
              <a:ext uri="{FF2B5EF4-FFF2-40B4-BE49-F238E27FC236}">
                <a16:creationId xmlns:a16="http://schemas.microsoft.com/office/drawing/2014/main" id="{9B3C4A75-50C6-1E62-DE9C-7B88F0EEE3CA}"/>
              </a:ext>
            </a:extLst>
          </p:cNvPr>
          <p:cNvSpPr txBox="1"/>
          <p:nvPr/>
        </p:nvSpPr>
        <p:spPr>
          <a:xfrm>
            <a:off x="10273245" y="90052"/>
            <a:ext cx="176635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defTabSz="457200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lang="pt-BR" b="1" dirty="0"/>
              <a:t>Projeto  Integrador   </a:t>
            </a:r>
            <a:endParaRPr b="1" dirty="0"/>
          </a:p>
        </p:txBody>
      </p:sp>
      <p:pic>
        <p:nvPicPr>
          <p:cNvPr id="5" name="Imagem 4" descr="Pessoa posando para foto em frente a geladeira com a porta aberta&#10;&#10;O conteúdo gerado por IA pode estar incorreto.">
            <a:extLst>
              <a:ext uri="{FF2B5EF4-FFF2-40B4-BE49-F238E27FC236}">
                <a16:creationId xmlns:a16="http://schemas.microsoft.com/office/drawing/2014/main" id="{F4155061-79A7-5E64-0B00-B369B638B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527"/>
            <a:ext cx="4484084" cy="6009181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0DA9FFFC-A0E2-DFEC-7CEF-53E7E01C4C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DCDCA64-068B-1DB6-EF31-E0B2A8FAA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FC0E105-C355-6188-FF0A-AF50F62BF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315586E-7E45-F935-7265-A3850A4562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2265" y="5473912"/>
            <a:ext cx="1309735" cy="1384087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A5259AEB-B265-5BF7-E2DC-6CDAD0259E4D}"/>
              </a:ext>
            </a:extLst>
          </p:cNvPr>
          <p:cNvSpPr txBox="1"/>
          <p:nvPr/>
        </p:nvSpPr>
        <p:spPr>
          <a:xfrm>
            <a:off x="5042780" y="3675707"/>
            <a:ext cx="5984341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C13C390-ACEA-151F-D7F5-8D46411B068F}"/>
              </a:ext>
            </a:extLst>
          </p:cNvPr>
          <p:cNvSpPr txBox="1"/>
          <p:nvPr/>
        </p:nvSpPr>
        <p:spPr>
          <a:xfrm>
            <a:off x="4410213" y="6464351"/>
            <a:ext cx="7517015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dirty="0"/>
              <a:t>2 </a:t>
            </a:r>
            <a:r>
              <a:rPr kumimoji="0" lang="pt-B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ºEntrega ( </a:t>
            </a:r>
            <a:r>
              <a:rPr lang="pt-BR" dirty="0"/>
              <a:t>Obs.</a:t>
            </a:r>
            <a:r>
              <a:rPr kumimoji="0" lang="pt-B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: Seguir o template que esta na plataforma blackboard) 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E9EA922-A63B-4AD5-9D7E-B32585E0C9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175" y="594712"/>
            <a:ext cx="6234998" cy="518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1026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BD3EB-1B0F-A322-743F-DE639979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">
            <a:extLst>
              <a:ext uri="{FF2B5EF4-FFF2-40B4-BE49-F238E27FC236}">
                <a16:creationId xmlns:a16="http://schemas.microsoft.com/office/drawing/2014/main" id="{285977AC-CEBB-61FE-F65A-9CBB6AA9946A}"/>
              </a:ext>
            </a:extLst>
          </p:cNvPr>
          <p:cNvSpPr/>
          <p:nvPr/>
        </p:nvSpPr>
        <p:spPr>
          <a:xfrm>
            <a:off x="1" y="-38100"/>
            <a:ext cx="12206576" cy="510361"/>
          </a:xfrm>
          <a:prstGeom prst="rect">
            <a:avLst/>
          </a:prstGeom>
          <a:solidFill>
            <a:srgbClr val="1B4582"/>
          </a:solidFill>
          <a:ln w="25400">
            <a:solidFill>
              <a:srgbClr val="1B458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" name="SENAC EAD TECNOLOGIA EM GASTRONOMIA">
            <a:extLst>
              <a:ext uri="{FF2B5EF4-FFF2-40B4-BE49-F238E27FC236}">
                <a16:creationId xmlns:a16="http://schemas.microsoft.com/office/drawing/2014/main" id="{3C7E0CF7-9810-070C-3405-6598A9096BD3}"/>
              </a:ext>
            </a:extLst>
          </p:cNvPr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b="0" dirty="0"/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E52CAE0B-72A4-7106-0865-385294B45DCB}"/>
              </a:ext>
            </a:extLst>
          </p:cNvPr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" name="SENAC EAD TECNOLOGIA EM GASTRONOMIA">
            <a:extLst>
              <a:ext uri="{FF2B5EF4-FFF2-40B4-BE49-F238E27FC236}">
                <a16:creationId xmlns:a16="http://schemas.microsoft.com/office/drawing/2014/main" id="{BF2455A4-950A-40EE-E7C6-E70B9245CD53}"/>
              </a:ext>
            </a:extLst>
          </p:cNvPr>
          <p:cNvSpPr txBox="1"/>
          <p:nvPr/>
        </p:nvSpPr>
        <p:spPr>
          <a:xfrm>
            <a:off x="297201" y="100625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SENAC EAD </a:t>
            </a:r>
            <a:r>
              <a:rPr lang="pt-BR" dirty="0"/>
              <a:t>– TADS / TSI </a:t>
            </a:r>
            <a:endParaRPr b="0" dirty="0"/>
          </a:p>
        </p:txBody>
      </p:sp>
      <p:sp>
        <p:nvSpPr>
          <p:cNvPr id="3" name="DISCIPLINA - HABILIDADES DE CONFEITARIA">
            <a:extLst>
              <a:ext uri="{FF2B5EF4-FFF2-40B4-BE49-F238E27FC236}">
                <a16:creationId xmlns:a16="http://schemas.microsoft.com/office/drawing/2014/main" id="{FD6907B0-5EDC-9E2C-A0C3-72FA105699D2}"/>
              </a:ext>
            </a:extLst>
          </p:cNvPr>
          <p:cNvSpPr txBox="1"/>
          <p:nvPr/>
        </p:nvSpPr>
        <p:spPr>
          <a:xfrm>
            <a:off x="10273245" y="90052"/>
            <a:ext cx="176635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defTabSz="457200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lang="pt-BR" b="1" dirty="0"/>
              <a:t>Projeto  Integrador   </a:t>
            </a:r>
            <a:endParaRPr b="1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E3BC42C2-5534-DA94-D8C8-ACD6D642F5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1941317-A5DA-2782-C63C-CAD1947D0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4F85E58-D5B2-F822-ED64-1B9A124B3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9ED2DCF8-E17D-0790-2E5B-7505065E8E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2265" y="5473912"/>
            <a:ext cx="1309735" cy="1384087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35942AC7-CFD5-0735-97A2-E8B52C97D3C5}"/>
              </a:ext>
            </a:extLst>
          </p:cNvPr>
          <p:cNvSpPr txBox="1"/>
          <p:nvPr/>
        </p:nvSpPr>
        <p:spPr>
          <a:xfrm>
            <a:off x="5042780" y="3675707"/>
            <a:ext cx="5984341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51C87F8-F982-8F86-E86D-88579BC2544C}"/>
              </a:ext>
            </a:extLst>
          </p:cNvPr>
          <p:cNvSpPr txBox="1"/>
          <p:nvPr/>
        </p:nvSpPr>
        <p:spPr>
          <a:xfrm>
            <a:off x="2696497" y="472123"/>
            <a:ext cx="6799006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2800" b="1" i="0" u="sng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Abadi" panose="020B0604020104020204" pitchFamily="34" charset="0"/>
                <a:sym typeface="Helvetica Neue"/>
              </a:rPr>
              <a:t>Qual </a:t>
            </a:r>
            <a:r>
              <a:rPr lang="pt-BR" sz="2800" b="1" u="sng" dirty="0">
                <a:solidFill>
                  <a:srgbClr val="C00000"/>
                </a:solidFill>
                <a:latin typeface="Abadi" panose="020B0604020104020204" pitchFamily="34" charset="0"/>
              </a:rPr>
              <a:t>a Proposta </a:t>
            </a:r>
            <a:r>
              <a:rPr kumimoji="0" lang="pt-BR" sz="2800" b="1" i="0" u="sng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Abadi" panose="020B0604020104020204" pitchFamily="34" charset="0"/>
                <a:sym typeface="Helvetica Neue"/>
              </a:rPr>
              <a:t>?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C48E7889-7B0A-307F-B6E1-1F5CCD0032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802" y="1252117"/>
            <a:ext cx="9563596" cy="521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9182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5D4A3-A084-4F7D-0B0F-E8B498984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">
            <a:extLst>
              <a:ext uri="{FF2B5EF4-FFF2-40B4-BE49-F238E27FC236}">
                <a16:creationId xmlns:a16="http://schemas.microsoft.com/office/drawing/2014/main" id="{8F8139F8-3A6E-0D8F-2C18-F18EB8108AC2}"/>
              </a:ext>
            </a:extLst>
          </p:cNvPr>
          <p:cNvSpPr/>
          <p:nvPr/>
        </p:nvSpPr>
        <p:spPr>
          <a:xfrm>
            <a:off x="1" y="-38100"/>
            <a:ext cx="12206576" cy="510361"/>
          </a:xfrm>
          <a:prstGeom prst="rect">
            <a:avLst/>
          </a:prstGeom>
          <a:solidFill>
            <a:srgbClr val="1B4582"/>
          </a:solidFill>
          <a:ln w="25400">
            <a:solidFill>
              <a:srgbClr val="1B458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" name="SENAC EAD TECNOLOGIA EM GASTRONOMIA">
            <a:extLst>
              <a:ext uri="{FF2B5EF4-FFF2-40B4-BE49-F238E27FC236}">
                <a16:creationId xmlns:a16="http://schemas.microsoft.com/office/drawing/2014/main" id="{CD541118-5933-ABDB-BA48-18A40E2C632C}"/>
              </a:ext>
            </a:extLst>
          </p:cNvPr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b="0" dirty="0"/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361207B9-A076-A250-EDCB-EFB0B9B79261}"/>
              </a:ext>
            </a:extLst>
          </p:cNvPr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" name="SENAC EAD TECNOLOGIA EM GASTRONOMIA">
            <a:extLst>
              <a:ext uri="{FF2B5EF4-FFF2-40B4-BE49-F238E27FC236}">
                <a16:creationId xmlns:a16="http://schemas.microsoft.com/office/drawing/2014/main" id="{862F4F05-F863-9833-9254-4F74FB3B60FF}"/>
              </a:ext>
            </a:extLst>
          </p:cNvPr>
          <p:cNvSpPr txBox="1"/>
          <p:nvPr/>
        </p:nvSpPr>
        <p:spPr>
          <a:xfrm>
            <a:off x="297201" y="100625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SENAC EAD </a:t>
            </a:r>
            <a:r>
              <a:rPr lang="pt-BR" dirty="0"/>
              <a:t>– TADS / TSI </a:t>
            </a:r>
            <a:endParaRPr b="0" dirty="0"/>
          </a:p>
        </p:txBody>
      </p:sp>
      <p:sp>
        <p:nvSpPr>
          <p:cNvPr id="3" name="DISCIPLINA - HABILIDADES DE CONFEITARIA">
            <a:extLst>
              <a:ext uri="{FF2B5EF4-FFF2-40B4-BE49-F238E27FC236}">
                <a16:creationId xmlns:a16="http://schemas.microsoft.com/office/drawing/2014/main" id="{C4A4C06A-5D35-BC4D-1B5C-F5C39E7BC780}"/>
              </a:ext>
            </a:extLst>
          </p:cNvPr>
          <p:cNvSpPr txBox="1"/>
          <p:nvPr/>
        </p:nvSpPr>
        <p:spPr>
          <a:xfrm>
            <a:off x="10273245" y="90052"/>
            <a:ext cx="176635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defTabSz="457200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lang="pt-BR" b="1" dirty="0"/>
              <a:t>Projeto  Integrador   </a:t>
            </a:r>
            <a:endParaRPr b="1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F9F073D6-6327-C3A6-8644-BC60C380C3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B54655D-BE5B-3C50-2C39-9D41330BA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25CC9DC-EEB8-D53D-EC42-2B492A382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DECF59B-6055-B66F-9974-3D33551C6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2265" y="5473912"/>
            <a:ext cx="1309735" cy="1384087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D8C284D5-E95B-60C2-C575-02EDEDAC6BC8}"/>
              </a:ext>
            </a:extLst>
          </p:cNvPr>
          <p:cNvSpPr txBox="1"/>
          <p:nvPr/>
        </p:nvSpPr>
        <p:spPr>
          <a:xfrm>
            <a:off x="5042780" y="3675707"/>
            <a:ext cx="5984341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170B534-906B-66F6-EF24-F092D157DF9E}"/>
              </a:ext>
            </a:extLst>
          </p:cNvPr>
          <p:cNvSpPr txBox="1"/>
          <p:nvPr/>
        </p:nvSpPr>
        <p:spPr>
          <a:xfrm>
            <a:off x="2696497" y="472123"/>
            <a:ext cx="6799006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2800" b="1" i="0" u="sng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Abadi" panose="020B0604020104020204" pitchFamily="34" charset="0"/>
                <a:sym typeface="Helvetica Neue"/>
              </a:rPr>
              <a:t>Qual </a:t>
            </a:r>
            <a:r>
              <a:rPr lang="pt-BR" sz="2800" b="1" u="sng" dirty="0">
                <a:solidFill>
                  <a:srgbClr val="C00000"/>
                </a:solidFill>
                <a:latin typeface="Abadi" panose="020B0604020104020204" pitchFamily="34" charset="0"/>
              </a:rPr>
              <a:t>a Proposta </a:t>
            </a:r>
            <a:r>
              <a:rPr kumimoji="0" lang="pt-BR" sz="2800" b="1" i="0" u="sng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Abadi" panose="020B0604020104020204" pitchFamily="34" charset="0"/>
                <a:sym typeface="Helvetica Neue"/>
              </a:rPr>
              <a:t>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61C095A-4F34-15D3-B385-C8A92B882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489" y="1020685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58792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0E0D4-35F2-AEDD-67FF-1DB3B1090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">
            <a:extLst>
              <a:ext uri="{FF2B5EF4-FFF2-40B4-BE49-F238E27FC236}">
                <a16:creationId xmlns:a16="http://schemas.microsoft.com/office/drawing/2014/main" id="{C2E4D4C1-4761-602D-7E56-E0DB295F0850}"/>
              </a:ext>
            </a:extLst>
          </p:cNvPr>
          <p:cNvSpPr/>
          <p:nvPr/>
        </p:nvSpPr>
        <p:spPr>
          <a:xfrm>
            <a:off x="1" y="-38100"/>
            <a:ext cx="12206576" cy="510361"/>
          </a:xfrm>
          <a:prstGeom prst="rect">
            <a:avLst/>
          </a:prstGeom>
          <a:solidFill>
            <a:srgbClr val="1B4582"/>
          </a:solidFill>
          <a:ln w="25400">
            <a:solidFill>
              <a:srgbClr val="1B458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" name="SENAC EAD TECNOLOGIA EM GASTRONOMIA">
            <a:extLst>
              <a:ext uri="{FF2B5EF4-FFF2-40B4-BE49-F238E27FC236}">
                <a16:creationId xmlns:a16="http://schemas.microsoft.com/office/drawing/2014/main" id="{CC79C860-A269-A5BF-48F5-B602740CF23A}"/>
              </a:ext>
            </a:extLst>
          </p:cNvPr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b="0" dirty="0"/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1B172215-1461-6AB4-5DA3-146E8B036D0B}"/>
              </a:ext>
            </a:extLst>
          </p:cNvPr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" name="SENAC EAD TECNOLOGIA EM GASTRONOMIA">
            <a:extLst>
              <a:ext uri="{FF2B5EF4-FFF2-40B4-BE49-F238E27FC236}">
                <a16:creationId xmlns:a16="http://schemas.microsoft.com/office/drawing/2014/main" id="{84334B28-ABA3-CB0E-AEB5-65EEE9930C3F}"/>
              </a:ext>
            </a:extLst>
          </p:cNvPr>
          <p:cNvSpPr txBox="1"/>
          <p:nvPr/>
        </p:nvSpPr>
        <p:spPr>
          <a:xfrm>
            <a:off x="297201" y="100625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SENAC EAD </a:t>
            </a:r>
            <a:r>
              <a:rPr lang="pt-BR" dirty="0"/>
              <a:t>– TADS / TSI </a:t>
            </a:r>
            <a:endParaRPr b="0" dirty="0"/>
          </a:p>
        </p:txBody>
      </p:sp>
      <p:sp>
        <p:nvSpPr>
          <p:cNvPr id="3" name="DISCIPLINA - HABILIDADES DE CONFEITARIA">
            <a:extLst>
              <a:ext uri="{FF2B5EF4-FFF2-40B4-BE49-F238E27FC236}">
                <a16:creationId xmlns:a16="http://schemas.microsoft.com/office/drawing/2014/main" id="{05B0E2FE-B56F-C325-C23D-F59ABFC7D522}"/>
              </a:ext>
            </a:extLst>
          </p:cNvPr>
          <p:cNvSpPr txBox="1"/>
          <p:nvPr/>
        </p:nvSpPr>
        <p:spPr>
          <a:xfrm>
            <a:off x="10273245" y="90052"/>
            <a:ext cx="176635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defTabSz="457200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lang="pt-BR" b="1" dirty="0"/>
              <a:t>Projeto  Integrador   </a:t>
            </a:r>
            <a:endParaRPr b="1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4F51D118-5562-7710-409E-3F6A25851B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028568B-1820-7ED1-6E89-025C38E5A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FD471FF-FA80-533A-48B0-1EC7063CE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74905035-658C-45B3-A978-A74DF8E18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2265" y="5473912"/>
            <a:ext cx="1309735" cy="1384087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B80EB63A-0BFF-E692-3337-9E9DB6575F04}"/>
              </a:ext>
            </a:extLst>
          </p:cNvPr>
          <p:cNvSpPr txBox="1"/>
          <p:nvPr/>
        </p:nvSpPr>
        <p:spPr>
          <a:xfrm>
            <a:off x="5042780" y="3675707"/>
            <a:ext cx="5984341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95C5830-D133-66DC-F11F-7951F5CF5D35}"/>
              </a:ext>
            </a:extLst>
          </p:cNvPr>
          <p:cNvSpPr txBox="1"/>
          <p:nvPr/>
        </p:nvSpPr>
        <p:spPr>
          <a:xfrm>
            <a:off x="2696497" y="472123"/>
            <a:ext cx="6799006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2800" b="1" i="0" u="sng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Abadi" panose="020B0604020104020204" pitchFamily="34" charset="0"/>
                <a:sym typeface="Helvetica Neue"/>
              </a:rPr>
              <a:t>Qual </a:t>
            </a:r>
            <a:r>
              <a:rPr lang="pt-BR" sz="2800" b="1" u="sng" dirty="0">
                <a:solidFill>
                  <a:srgbClr val="C00000"/>
                </a:solidFill>
                <a:latin typeface="Abadi" panose="020B0604020104020204" pitchFamily="34" charset="0"/>
              </a:rPr>
              <a:t>a Proposta </a:t>
            </a:r>
            <a:r>
              <a:rPr kumimoji="0" lang="pt-BR" sz="2800" b="1" i="0" u="sng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Abadi" panose="020B0604020104020204" pitchFamily="34" charset="0"/>
                <a:sym typeface="Helvetica Neue"/>
              </a:rPr>
              <a:t>?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DD741A0-53D2-5CED-8520-677E940D4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489" y="1013469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51696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31287-FE7B-406A-2466-28FDF71A1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">
            <a:extLst>
              <a:ext uri="{FF2B5EF4-FFF2-40B4-BE49-F238E27FC236}">
                <a16:creationId xmlns:a16="http://schemas.microsoft.com/office/drawing/2014/main" id="{78E950A1-9BDB-5FBE-346C-2ADA247D0084}"/>
              </a:ext>
            </a:extLst>
          </p:cNvPr>
          <p:cNvSpPr/>
          <p:nvPr/>
        </p:nvSpPr>
        <p:spPr>
          <a:xfrm>
            <a:off x="1" y="-38100"/>
            <a:ext cx="12206576" cy="510361"/>
          </a:xfrm>
          <a:prstGeom prst="rect">
            <a:avLst/>
          </a:prstGeom>
          <a:solidFill>
            <a:srgbClr val="1B4582"/>
          </a:solidFill>
          <a:ln w="25400">
            <a:solidFill>
              <a:srgbClr val="1B458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" name="SENAC EAD TECNOLOGIA EM GASTRONOMIA">
            <a:extLst>
              <a:ext uri="{FF2B5EF4-FFF2-40B4-BE49-F238E27FC236}">
                <a16:creationId xmlns:a16="http://schemas.microsoft.com/office/drawing/2014/main" id="{9EE3EFB9-1443-5463-5D61-12B279762195}"/>
              </a:ext>
            </a:extLst>
          </p:cNvPr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b="0" dirty="0"/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C9BFD1B8-21A0-A1A9-2F8A-72DD17530E8E}"/>
              </a:ext>
            </a:extLst>
          </p:cNvPr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" name="SENAC EAD TECNOLOGIA EM GASTRONOMIA">
            <a:extLst>
              <a:ext uri="{FF2B5EF4-FFF2-40B4-BE49-F238E27FC236}">
                <a16:creationId xmlns:a16="http://schemas.microsoft.com/office/drawing/2014/main" id="{0722BEC3-BF32-9811-C313-2B8B7ED818BA}"/>
              </a:ext>
            </a:extLst>
          </p:cNvPr>
          <p:cNvSpPr txBox="1"/>
          <p:nvPr/>
        </p:nvSpPr>
        <p:spPr>
          <a:xfrm>
            <a:off x="297201" y="100625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SENAC EAD </a:t>
            </a:r>
            <a:r>
              <a:rPr lang="pt-BR" dirty="0"/>
              <a:t>– TADS / TSI </a:t>
            </a:r>
            <a:endParaRPr b="0" dirty="0"/>
          </a:p>
        </p:txBody>
      </p:sp>
      <p:sp>
        <p:nvSpPr>
          <p:cNvPr id="3" name="DISCIPLINA - HABILIDADES DE CONFEITARIA">
            <a:extLst>
              <a:ext uri="{FF2B5EF4-FFF2-40B4-BE49-F238E27FC236}">
                <a16:creationId xmlns:a16="http://schemas.microsoft.com/office/drawing/2014/main" id="{4756B517-AE54-B356-C6E4-1A0BE3805317}"/>
              </a:ext>
            </a:extLst>
          </p:cNvPr>
          <p:cNvSpPr txBox="1"/>
          <p:nvPr/>
        </p:nvSpPr>
        <p:spPr>
          <a:xfrm>
            <a:off x="10221992" y="118194"/>
            <a:ext cx="2169526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defTabSz="457200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lang="pt-BR" b="1" dirty="0"/>
              <a:t>Projeto  Integrador  </a:t>
            </a:r>
            <a:endParaRPr b="1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82BF371-EA66-36B0-6E4D-0CEE21EDCF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F38C5C7-F8BA-2016-5F50-94E6E4F17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2D901D4-6F55-5CFE-173E-EBA252C27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4294EEF-9444-544D-2C3E-C984A5C0A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2265" y="5473912"/>
            <a:ext cx="1309735" cy="1384087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CB7E0C9A-8C53-560D-2882-5102897DBD23}"/>
              </a:ext>
            </a:extLst>
          </p:cNvPr>
          <p:cNvSpPr/>
          <p:nvPr/>
        </p:nvSpPr>
        <p:spPr>
          <a:xfrm>
            <a:off x="5435097" y="773765"/>
            <a:ext cx="503535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4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Eh agora não sei usar o GitHub ?</a:t>
            </a:r>
            <a:endParaRPr lang="pt-BR" sz="2400" b="1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F3004BE-499A-CC86-1A55-3DFCEB385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98" y="773765"/>
            <a:ext cx="3007898" cy="4114276"/>
          </a:xfrm>
          <a:prstGeom prst="rect">
            <a:avLst/>
          </a:prstGeom>
        </p:spPr>
      </p:pic>
      <p:pic>
        <p:nvPicPr>
          <p:cNvPr id="12" name="Gráfico 11" descr="Gráfico de barras com tendência descendente com preenchimento sólido">
            <a:extLst>
              <a:ext uri="{FF2B5EF4-FFF2-40B4-BE49-F238E27FC236}">
                <a16:creationId xmlns:a16="http://schemas.microsoft.com/office/drawing/2014/main" id="{C2C86BFD-2E98-0B20-8ED3-FD969A8D0A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1778" y="4920573"/>
            <a:ext cx="914400" cy="914400"/>
          </a:xfrm>
          <a:prstGeom prst="rect">
            <a:avLst/>
          </a:prstGeom>
        </p:spPr>
      </p:pic>
      <p:pic>
        <p:nvPicPr>
          <p:cNvPr id="15" name="Gráfico 14" descr="Conselho administrativo com preenchimento sólido">
            <a:extLst>
              <a:ext uri="{FF2B5EF4-FFF2-40B4-BE49-F238E27FC236}">
                <a16:creationId xmlns:a16="http://schemas.microsoft.com/office/drawing/2014/main" id="{1F709FD0-15D9-D381-014D-A6FF514625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0" y="4819522"/>
            <a:ext cx="914400" cy="914400"/>
          </a:xfrm>
          <a:prstGeom prst="rect">
            <a:avLst/>
          </a:prstGeom>
        </p:spPr>
      </p:pic>
      <p:pic>
        <p:nvPicPr>
          <p:cNvPr id="17" name="Gráfico 16" descr="Análise do cliente com preenchimento sólido">
            <a:extLst>
              <a:ext uri="{FF2B5EF4-FFF2-40B4-BE49-F238E27FC236}">
                <a16:creationId xmlns:a16="http://schemas.microsoft.com/office/drawing/2014/main" id="{C214F47D-B19A-A028-E20D-C24C315541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53336" y="4819522"/>
            <a:ext cx="914400" cy="914400"/>
          </a:xfrm>
          <a:prstGeom prst="rect">
            <a:avLst/>
          </a:prstGeom>
        </p:spPr>
      </p:pic>
      <p:pic>
        <p:nvPicPr>
          <p:cNvPr id="20" name="Gráfico 19" descr="Banco de dados com preenchimento sólido">
            <a:extLst>
              <a:ext uri="{FF2B5EF4-FFF2-40B4-BE49-F238E27FC236}">
                <a16:creationId xmlns:a16="http://schemas.microsoft.com/office/drawing/2014/main" id="{7359E144-121E-1212-8228-C6175ADCB2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63072" y="4819522"/>
            <a:ext cx="914400" cy="914400"/>
          </a:xfrm>
          <a:prstGeom prst="rect">
            <a:avLst/>
          </a:prstGeom>
        </p:spPr>
      </p:pic>
      <p:pic>
        <p:nvPicPr>
          <p:cNvPr id="23" name="Gráfico 22" descr="Medidor com preenchimento sólido">
            <a:extLst>
              <a:ext uri="{FF2B5EF4-FFF2-40B4-BE49-F238E27FC236}">
                <a16:creationId xmlns:a16="http://schemas.microsoft.com/office/drawing/2014/main" id="{6120EE0C-6062-00C6-887B-6D3B06CDFB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90087" y="4736730"/>
            <a:ext cx="914400" cy="9144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0AD2116-B65E-3A45-8D8E-D490E4A5D1D4}"/>
              </a:ext>
            </a:extLst>
          </p:cNvPr>
          <p:cNvSpPr txBox="1"/>
          <p:nvPr/>
        </p:nvSpPr>
        <p:spPr>
          <a:xfrm>
            <a:off x="3197485" y="2040448"/>
            <a:ext cx="6799006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dirty="0"/>
              <a:t>• </a:t>
            </a:r>
            <a:r>
              <a:rPr lang="pt-BR" b="1" dirty="0"/>
              <a:t>É um bom momento para iniciar o uso :</a:t>
            </a:r>
          </a:p>
          <a:p>
            <a:r>
              <a:rPr lang="pt-BR" b="1" dirty="0"/>
              <a:t>  Materiais de apoio </a:t>
            </a:r>
          </a:p>
          <a:p>
            <a:endParaRPr lang="pt-BR" b="1" dirty="0"/>
          </a:p>
          <a:p>
            <a:endParaRPr lang="pt-BR" b="1" dirty="0"/>
          </a:p>
          <a:p>
            <a:endParaRPr lang="pt-BR" b="1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D6AE487-86C8-8F52-A02F-78CE9230C4FE}"/>
              </a:ext>
            </a:extLst>
          </p:cNvPr>
          <p:cNvSpPr txBox="1"/>
          <p:nvPr/>
        </p:nvSpPr>
        <p:spPr>
          <a:xfrm>
            <a:off x="3226982" y="2978824"/>
            <a:ext cx="7243468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pt-BR" dirty="0"/>
              <a:t>Olá Mundo (GitHub Docs.): </a:t>
            </a:r>
            <a:r>
              <a:rPr lang="pt-BR" dirty="0">
                <a:hlinkClick r:id="rId10"/>
              </a:rPr>
              <a:t>GitHub DOCS </a:t>
            </a:r>
            <a:endParaRPr lang="pt-BR" dirty="0"/>
          </a:p>
          <a:p>
            <a:endParaRPr lang="pt-BR" dirty="0"/>
          </a:p>
          <a:p>
            <a:pPr marL="285750" indent="-285750">
              <a:buFontTx/>
              <a:buChar char="-"/>
            </a:pPr>
            <a:r>
              <a:rPr lang="pt-BR" dirty="0"/>
              <a:t>Primeiros passos na configuração (Alura):</a:t>
            </a:r>
            <a:r>
              <a:rPr lang="pt-BR" dirty="0">
                <a:hlinkClick r:id="rId11"/>
              </a:rPr>
              <a:t>Alura primeiros passos GitHub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390114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CC4E6-F868-B3B7-9F79-BDD15E4C7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">
            <a:extLst>
              <a:ext uri="{FF2B5EF4-FFF2-40B4-BE49-F238E27FC236}">
                <a16:creationId xmlns:a16="http://schemas.microsoft.com/office/drawing/2014/main" id="{B49A8315-DDE5-EA95-0230-8BF562369F39}"/>
              </a:ext>
            </a:extLst>
          </p:cNvPr>
          <p:cNvSpPr/>
          <p:nvPr/>
        </p:nvSpPr>
        <p:spPr>
          <a:xfrm>
            <a:off x="1" y="-38100"/>
            <a:ext cx="12206576" cy="510361"/>
          </a:xfrm>
          <a:prstGeom prst="rect">
            <a:avLst/>
          </a:prstGeom>
          <a:solidFill>
            <a:srgbClr val="1B4582"/>
          </a:solidFill>
          <a:ln w="25400">
            <a:solidFill>
              <a:srgbClr val="1B458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" name="SENAC EAD TECNOLOGIA EM GASTRONOMIA">
            <a:extLst>
              <a:ext uri="{FF2B5EF4-FFF2-40B4-BE49-F238E27FC236}">
                <a16:creationId xmlns:a16="http://schemas.microsoft.com/office/drawing/2014/main" id="{A4BF610A-C0AC-F2F5-356F-17E9014A2BEC}"/>
              </a:ext>
            </a:extLst>
          </p:cNvPr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b="0" dirty="0"/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6008F088-B620-CF16-D6AA-9C862C7CEDD7}"/>
              </a:ext>
            </a:extLst>
          </p:cNvPr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" name="SENAC EAD TECNOLOGIA EM GASTRONOMIA">
            <a:extLst>
              <a:ext uri="{FF2B5EF4-FFF2-40B4-BE49-F238E27FC236}">
                <a16:creationId xmlns:a16="http://schemas.microsoft.com/office/drawing/2014/main" id="{981C1F96-D325-4710-BF8E-A6D68A36DBB6}"/>
              </a:ext>
            </a:extLst>
          </p:cNvPr>
          <p:cNvSpPr txBox="1"/>
          <p:nvPr/>
        </p:nvSpPr>
        <p:spPr>
          <a:xfrm>
            <a:off x="297201" y="100625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SENAC EAD </a:t>
            </a:r>
            <a:r>
              <a:rPr lang="pt-BR" dirty="0"/>
              <a:t>– TADS / TSI </a:t>
            </a:r>
            <a:endParaRPr b="0" dirty="0"/>
          </a:p>
        </p:txBody>
      </p:sp>
      <p:sp>
        <p:nvSpPr>
          <p:cNvPr id="3" name="DISCIPLINA - HABILIDADES DE CONFEITARIA">
            <a:extLst>
              <a:ext uri="{FF2B5EF4-FFF2-40B4-BE49-F238E27FC236}">
                <a16:creationId xmlns:a16="http://schemas.microsoft.com/office/drawing/2014/main" id="{C8860089-16B6-6474-6FF7-90D2347EEF4B}"/>
              </a:ext>
            </a:extLst>
          </p:cNvPr>
          <p:cNvSpPr txBox="1"/>
          <p:nvPr/>
        </p:nvSpPr>
        <p:spPr>
          <a:xfrm>
            <a:off x="10273245" y="90052"/>
            <a:ext cx="176635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defTabSz="457200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lang="pt-BR" b="1" dirty="0"/>
              <a:t>Projeto  Integrador   </a:t>
            </a:r>
            <a:endParaRPr b="1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58A8125-8C56-4087-7DE7-318F65868F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BB54F93-F83A-45C0-2B91-C2F9B6CF3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2E9070E-25D9-E492-766F-33AD8C768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B49F6AE-1A65-87E7-D18B-551D09450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2265" y="5473912"/>
            <a:ext cx="1309735" cy="1384087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62AEFCB9-4161-6C85-794C-341ACC1FF7E7}"/>
              </a:ext>
            </a:extLst>
          </p:cNvPr>
          <p:cNvSpPr txBox="1"/>
          <p:nvPr/>
        </p:nvSpPr>
        <p:spPr>
          <a:xfrm>
            <a:off x="5042780" y="3675707"/>
            <a:ext cx="5984341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9A32DCA-8D90-40CF-9659-1C7FDF94B85A}"/>
              </a:ext>
            </a:extLst>
          </p:cNvPr>
          <p:cNvSpPr txBox="1"/>
          <p:nvPr/>
        </p:nvSpPr>
        <p:spPr>
          <a:xfrm>
            <a:off x="2696497" y="472123"/>
            <a:ext cx="6799006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2800" b="1" u="sng" dirty="0">
                <a:solidFill>
                  <a:srgbClr val="C00000"/>
                </a:solidFill>
                <a:latin typeface="Abadi" panose="020B0604020104020204" pitchFamily="34" charset="0"/>
              </a:rPr>
              <a:t>Dúvidas </a:t>
            </a:r>
            <a:r>
              <a:rPr kumimoji="0" lang="pt-BR" sz="2800" b="1" i="0" u="sng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Abadi" panose="020B0604020104020204" pitchFamily="34" charset="0"/>
                <a:sym typeface="Helvetica Neue"/>
              </a:rPr>
              <a:t>?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4539BD5-2032-CF3E-C51D-89682866223F}"/>
              </a:ext>
            </a:extLst>
          </p:cNvPr>
          <p:cNvSpPr txBox="1"/>
          <p:nvPr/>
        </p:nvSpPr>
        <p:spPr>
          <a:xfrm>
            <a:off x="484213" y="1428878"/>
            <a:ext cx="10918774" cy="42473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pt-BR" sz="14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Exemplo Prático item 01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pt-BR" sz="14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o projeto é: </a:t>
            </a:r>
            <a:r>
              <a:rPr lang="pt-BR" sz="1400" b="0" i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"Criar um aplicativo de inteligência artificial que detecta defeitos em peças de fábrica por foto"</a:t>
            </a:r>
            <a:r>
              <a:rPr lang="pt-BR" sz="14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4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Revisitar:</a:t>
            </a:r>
            <a:r>
              <a:rPr lang="pt-BR" sz="14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 projeto precisa integrar câmera, nuvem, IA e sistema de alerta. O risco maior é a IA detectar o defeito com precisão.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4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Definir a PoC:</a:t>
            </a:r>
            <a:r>
              <a:rPr lang="pt-BR" sz="14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PoC não será o app completo. A PoC será: </a:t>
            </a:r>
            <a:r>
              <a:rPr lang="pt-BR" sz="1400" b="0" i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"Desenvolver um script Python simples que analise 50 fotos (25 com defeito, 25 sem) usando o modelo de IA proposto para validar se a taxa de acerto é superior a 90%"</a:t>
            </a:r>
            <a:r>
              <a:rPr lang="pt-BR" sz="14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4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Desenvolver:</a:t>
            </a:r>
            <a:r>
              <a:rPr lang="pt-BR" sz="14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Criar esse script, rodar o teste e documentar o resultado. [</a:t>
            </a:r>
            <a:r>
              <a:rPr lang="pt-BR" sz="14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1</a:t>
            </a:r>
            <a:r>
              <a:rPr lang="pt-BR" sz="14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4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2</a:t>
            </a:r>
            <a:r>
              <a:rPr lang="pt-BR" sz="14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4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3</a:t>
            </a:r>
            <a:r>
              <a:rPr lang="pt-BR" sz="14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pt-BR" sz="14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Vantagens dessa Ação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4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Redução de Riscos:</a:t>
            </a:r>
            <a:r>
              <a:rPr lang="pt-BR" sz="14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Evita gastar tempo e dinheiro em uma solução que não funciona.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4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Validação Rápida:</a:t>
            </a:r>
            <a:r>
              <a:rPr lang="pt-BR" sz="14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Comprova a viabilidade técnica rapidamente.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4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Tomada de Decisão:</a:t>
            </a:r>
            <a:r>
              <a:rPr lang="pt-BR" sz="14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Ajuda stakeholders a decidir se o projeto deve prosseguir ou ser alterado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5AA087D-4C96-94AA-565F-28C8F74D00E0}"/>
              </a:ext>
            </a:extLst>
          </p:cNvPr>
          <p:cNvSpPr txBox="1"/>
          <p:nvPr/>
        </p:nvSpPr>
        <p:spPr>
          <a:xfrm>
            <a:off x="7092508" y="6405658"/>
            <a:ext cx="4063914" cy="307773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Obs</a:t>
            </a:r>
            <a:r>
              <a:rPr kumimoji="0" lang="pt-BR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:</a:t>
            </a:r>
            <a:r>
              <a:rPr lang="pt-BR" sz="1400" dirty="0"/>
              <a:t> No projeto necessita de mais embasamento</a:t>
            </a:r>
            <a:endParaRPr kumimoji="0" lang="pt-BR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0156233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B324C-4886-C2B9-018C-2CEA7931F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">
            <a:extLst>
              <a:ext uri="{FF2B5EF4-FFF2-40B4-BE49-F238E27FC236}">
                <a16:creationId xmlns:a16="http://schemas.microsoft.com/office/drawing/2014/main" id="{C7F7F0B8-7454-C097-4526-E6D2ED6757F5}"/>
              </a:ext>
            </a:extLst>
          </p:cNvPr>
          <p:cNvSpPr/>
          <p:nvPr/>
        </p:nvSpPr>
        <p:spPr>
          <a:xfrm>
            <a:off x="1" y="-38100"/>
            <a:ext cx="12206576" cy="510361"/>
          </a:xfrm>
          <a:prstGeom prst="rect">
            <a:avLst/>
          </a:prstGeom>
          <a:solidFill>
            <a:srgbClr val="1B4582"/>
          </a:solidFill>
          <a:ln w="25400">
            <a:solidFill>
              <a:srgbClr val="1B458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" name="SENAC EAD TECNOLOGIA EM GASTRONOMIA">
            <a:extLst>
              <a:ext uri="{FF2B5EF4-FFF2-40B4-BE49-F238E27FC236}">
                <a16:creationId xmlns:a16="http://schemas.microsoft.com/office/drawing/2014/main" id="{61FA5294-9629-337C-2A43-547168D3B1ED}"/>
              </a:ext>
            </a:extLst>
          </p:cNvPr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b="0" dirty="0"/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1A8A7545-96CD-5BB7-32F2-55D63E783CFD}"/>
              </a:ext>
            </a:extLst>
          </p:cNvPr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" name="SENAC EAD TECNOLOGIA EM GASTRONOMIA">
            <a:extLst>
              <a:ext uri="{FF2B5EF4-FFF2-40B4-BE49-F238E27FC236}">
                <a16:creationId xmlns:a16="http://schemas.microsoft.com/office/drawing/2014/main" id="{CC4EFBAF-818D-F647-6504-538EF256855D}"/>
              </a:ext>
            </a:extLst>
          </p:cNvPr>
          <p:cNvSpPr txBox="1"/>
          <p:nvPr/>
        </p:nvSpPr>
        <p:spPr>
          <a:xfrm>
            <a:off x="297201" y="100625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SENAC EAD </a:t>
            </a:r>
            <a:r>
              <a:rPr lang="pt-BR" dirty="0"/>
              <a:t>– TADS / TSI </a:t>
            </a:r>
            <a:endParaRPr b="0" dirty="0"/>
          </a:p>
        </p:txBody>
      </p:sp>
      <p:sp>
        <p:nvSpPr>
          <p:cNvPr id="3" name="DISCIPLINA - HABILIDADES DE CONFEITARIA">
            <a:extLst>
              <a:ext uri="{FF2B5EF4-FFF2-40B4-BE49-F238E27FC236}">
                <a16:creationId xmlns:a16="http://schemas.microsoft.com/office/drawing/2014/main" id="{4AD6369B-2D3C-1CAD-76A9-8E6BDD772AD1}"/>
              </a:ext>
            </a:extLst>
          </p:cNvPr>
          <p:cNvSpPr txBox="1"/>
          <p:nvPr/>
        </p:nvSpPr>
        <p:spPr>
          <a:xfrm>
            <a:off x="10273245" y="90052"/>
            <a:ext cx="176635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defTabSz="457200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lang="pt-BR" b="1" dirty="0"/>
              <a:t>Projeto  Integrador   </a:t>
            </a:r>
            <a:endParaRPr b="1" dirty="0"/>
          </a:p>
        </p:txBody>
      </p:sp>
      <p:pic>
        <p:nvPicPr>
          <p:cNvPr id="5" name="Imagem 4" descr="Pessoa posando para foto em frente a geladeira com a porta aberta&#10;&#10;O conteúdo gerado por IA pode estar incorreto.">
            <a:extLst>
              <a:ext uri="{FF2B5EF4-FFF2-40B4-BE49-F238E27FC236}">
                <a16:creationId xmlns:a16="http://schemas.microsoft.com/office/drawing/2014/main" id="{790ABA16-7D4D-B772-0129-9879B7F1EF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527"/>
            <a:ext cx="4484084" cy="6009181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1C1E6A75-E313-E2F3-161F-FDBE6A87A4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24CEDBB-B6C0-EF46-B489-66DBB4685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395D253-C73A-4BE4-746B-21152F06E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19F9437-CABC-09AA-467A-07DACB2966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2265" y="5473912"/>
            <a:ext cx="1309735" cy="1384087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85BB93A-A1B4-A7AF-3E63-8C017AD0EE80}"/>
              </a:ext>
            </a:extLst>
          </p:cNvPr>
          <p:cNvSpPr txBox="1"/>
          <p:nvPr/>
        </p:nvSpPr>
        <p:spPr>
          <a:xfrm>
            <a:off x="5042780" y="3675707"/>
            <a:ext cx="5984341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D771C97-84EB-71D4-8914-BCDCC93B88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628" y="920379"/>
            <a:ext cx="7143750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750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7F9FE-7D95-8EA1-759D-304C46215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">
            <a:extLst>
              <a:ext uri="{FF2B5EF4-FFF2-40B4-BE49-F238E27FC236}">
                <a16:creationId xmlns:a16="http://schemas.microsoft.com/office/drawing/2014/main" id="{081B8F64-DD7F-D7D3-3277-83597DFAD0EB}"/>
              </a:ext>
            </a:extLst>
          </p:cNvPr>
          <p:cNvSpPr/>
          <p:nvPr/>
        </p:nvSpPr>
        <p:spPr>
          <a:xfrm>
            <a:off x="1" y="-38100"/>
            <a:ext cx="12206576" cy="510361"/>
          </a:xfrm>
          <a:prstGeom prst="rect">
            <a:avLst/>
          </a:prstGeom>
          <a:solidFill>
            <a:srgbClr val="1B4582"/>
          </a:solidFill>
          <a:ln w="25400">
            <a:solidFill>
              <a:srgbClr val="1B458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" name="SENAC EAD TECNOLOGIA EM GASTRONOMIA">
            <a:extLst>
              <a:ext uri="{FF2B5EF4-FFF2-40B4-BE49-F238E27FC236}">
                <a16:creationId xmlns:a16="http://schemas.microsoft.com/office/drawing/2014/main" id="{47558246-0085-970E-A830-BE3C0CA331C6}"/>
              </a:ext>
            </a:extLst>
          </p:cNvPr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b="0" dirty="0"/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453EDDC4-DA2E-2A64-A06F-2E5C33627590}"/>
              </a:ext>
            </a:extLst>
          </p:cNvPr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" name="SENAC EAD TECNOLOGIA EM GASTRONOMIA">
            <a:extLst>
              <a:ext uri="{FF2B5EF4-FFF2-40B4-BE49-F238E27FC236}">
                <a16:creationId xmlns:a16="http://schemas.microsoft.com/office/drawing/2014/main" id="{635380D3-BDBE-B34C-5F28-B68279A52F1B}"/>
              </a:ext>
            </a:extLst>
          </p:cNvPr>
          <p:cNvSpPr txBox="1"/>
          <p:nvPr/>
        </p:nvSpPr>
        <p:spPr>
          <a:xfrm>
            <a:off x="297201" y="100625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SENAC EAD </a:t>
            </a:r>
            <a:r>
              <a:rPr lang="pt-BR" dirty="0"/>
              <a:t>– TADS / TSI </a:t>
            </a:r>
            <a:endParaRPr b="0" dirty="0"/>
          </a:p>
        </p:txBody>
      </p:sp>
      <p:sp>
        <p:nvSpPr>
          <p:cNvPr id="3" name="DISCIPLINA - HABILIDADES DE CONFEITARIA">
            <a:extLst>
              <a:ext uri="{FF2B5EF4-FFF2-40B4-BE49-F238E27FC236}">
                <a16:creationId xmlns:a16="http://schemas.microsoft.com/office/drawing/2014/main" id="{A4E55F02-CCEC-9A7C-7405-CCB0F461FF82}"/>
              </a:ext>
            </a:extLst>
          </p:cNvPr>
          <p:cNvSpPr txBox="1"/>
          <p:nvPr/>
        </p:nvSpPr>
        <p:spPr>
          <a:xfrm>
            <a:off x="10273245" y="90052"/>
            <a:ext cx="176635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defTabSz="457200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lang="pt-BR" b="1" dirty="0"/>
              <a:t>Projeto  Integrador   </a:t>
            </a:r>
            <a:endParaRPr b="1" dirty="0"/>
          </a:p>
        </p:txBody>
      </p:sp>
      <p:pic>
        <p:nvPicPr>
          <p:cNvPr id="5" name="Imagem 4" descr="Pessoa posando para foto em frente a geladeira com a porta aberta&#10;&#10;O conteúdo gerado por IA pode estar incorreto.">
            <a:extLst>
              <a:ext uri="{FF2B5EF4-FFF2-40B4-BE49-F238E27FC236}">
                <a16:creationId xmlns:a16="http://schemas.microsoft.com/office/drawing/2014/main" id="{0B16F9B2-86B7-3DA0-9B01-69BF1F255A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527"/>
            <a:ext cx="3427494" cy="4593231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8BB7CD40-848A-D259-9B07-8E49D731BE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6AB3480-93E4-EABA-C0B7-A8D1EBFFF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815B271-E0EC-50FE-E092-9453BE5F0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6701690-F1E6-1A63-9162-8B2DE92151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2265" y="5473912"/>
            <a:ext cx="1309735" cy="1384087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0DF21FC7-8807-A5B4-2EC3-BC272D1CB4BB}"/>
              </a:ext>
            </a:extLst>
          </p:cNvPr>
          <p:cNvSpPr txBox="1"/>
          <p:nvPr/>
        </p:nvSpPr>
        <p:spPr>
          <a:xfrm>
            <a:off x="5042780" y="3675707"/>
            <a:ext cx="5984341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66246C9-CDB3-04A1-A70B-EE160CA95C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084" y="607773"/>
            <a:ext cx="6803726" cy="74987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ADA2DDB9-4A94-665B-B072-B64D60878B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0925" y="1068587"/>
            <a:ext cx="4705350" cy="24765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01C7788-E84D-81D4-5DE2-4413432886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4934" y="3675458"/>
            <a:ext cx="4222750" cy="254317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5FA6284B-3490-25ED-FDCF-2FB0FAB83E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7256" y="1153232"/>
            <a:ext cx="3817711" cy="337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44563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A422C-D146-DF94-F646-D03F827FD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">
            <a:extLst>
              <a:ext uri="{FF2B5EF4-FFF2-40B4-BE49-F238E27FC236}">
                <a16:creationId xmlns:a16="http://schemas.microsoft.com/office/drawing/2014/main" id="{C292970F-DFED-0788-131D-D1388E16DC27}"/>
              </a:ext>
            </a:extLst>
          </p:cNvPr>
          <p:cNvSpPr/>
          <p:nvPr/>
        </p:nvSpPr>
        <p:spPr>
          <a:xfrm>
            <a:off x="1" y="-38100"/>
            <a:ext cx="12206576" cy="510361"/>
          </a:xfrm>
          <a:prstGeom prst="rect">
            <a:avLst/>
          </a:prstGeom>
          <a:solidFill>
            <a:srgbClr val="1B4582"/>
          </a:solidFill>
          <a:ln w="25400">
            <a:solidFill>
              <a:srgbClr val="1B458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" name="SENAC EAD TECNOLOGIA EM GASTRONOMIA">
            <a:extLst>
              <a:ext uri="{FF2B5EF4-FFF2-40B4-BE49-F238E27FC236}">
                <a16:creationId xmlns:a16="http://schemas.microsoft.com/office/drawing/2014/main" id="{9571596B-4BEC-2195-FF9A-D7867ED11DEC}"/>
              </a:ext>
            </a:extLst>
          </p:cNvPr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b="0" dirty="0"/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8FAEADD5-3171-0A23-8FE3-33F8D5C26EB8}"/>
              </a:ext>
            </a:extLst>
          </p:cNvPr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" name="SENAC EAD TECNOLOGIA EM GASTRONOMIA">
            <a:extLst>
              <a:ext uri="{FF2B5EF4-FFF2-40B4-BE49-F238E27FC236}">
                <a16:creationId xmlns:a16="http://schemas.microsoft.com/office/drawing/2014/main" id="{95CA9184-7053-2997-8CE6-0E7D028C5D32}"/>
              </a:ext>
            </a:extLst>
          </p:cNvPr>
          <p:cNvSpPr txBox="1"/>
          <p:nvPr/>
        </p:nvSpPr>
        <p:spPr>
          <a:xfrm>
            <a:off x="297201" y="100625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SENAC EAD </a:t>
            </a:r>
            <a:r>
              <a:rPr lang="pt-BR" dirty="0"/>
              <a:t>– TADS / TSI </a:t>
            </a:r>
            <a:endParaRPr b="0" dirty="0"/>
          </a:p>
        </p:txBody>
      </p:sp>
      <p:sp>
        <p:nvSpPr>
          <p:cNvPr id="3" name="DISCIPLINA - HABILIDADES DE CONFEITARIA">
            <a:extLst>
              <a:ext uri="{FF2B5EF4-FFF2-40B4-BE49-F238E27FC236}">
                <a16:creationId xmlns:a16="http://schemas.microsoft.com/office/drawing/2014/main" id="{A2872466-000F-A9B6-3B39-138FE991561D}"/>
              </a:ext>
            </a:extLst>
          </p:cNvPr>
          <p:cNvSpPr txBox="1"/>
          <p:nvPr/>
        </p:nvSpPr>
        <p:spPr>
          <a:xfrm>
            <a:off x="10273245" y="90052"/>
            <a:ext cx="176635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defTabSz="457200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lang="pt-BR" b="1" dirty="0"/>
              <a:t>Projeto  Integrador   </a:t>
            </a:r>
            <a:endParaRPr b="1" dirty="0"/>
          </a:p>
        </p:txBody>
      </p:sp>
      <p:pic>
        <p:nvPicPr>
          <p:cNvPr id="5" name="Imagem 4" descr="Pessoa posando para foto em frente a geladeira com a porta aberta&#10;&#10;O conteúdo gerado por IA pode estar incorreto.">
            <a:extLst>
              <a:ext uri="{FF2B5EF4-FFF2-40B4-BE49-F238E27FC236}">
                <a16:creationId xmlns:a16="http://schemas.microsoft.com/office/drawing/2014/main" id="{55BEEAE2-4841-CBCC-610E-E25514ABC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527"/>
            <a:ext cx="4484084" cy="6009181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7CF8A4A1-4B6B-6B57-2D2C-470C95AEC6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58E83C6-DF1D-D2C2-4AEA-6DB394A28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1C103AB-E122-B7C9-A93A-645A77CC5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6D173753-FC26-CFBE-7CEA-043DB4753D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2265" y="5473912"/>
            <a:ext cx="1309735" cy="1384087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B78EA1DF-DB30-0562-0FE1-E20D6C1FE16F}"/>
              </a:ext>
            </a:extLst>
          </p:cNvPr>
          <p:cNvSpPr txBox="1"/>
          <p:nvPr/>
        </p:nvSpPr>
        <p:spPr>
          <a:xfrm>
            <a:off x="5042780" y="3675707"/>
            <a:ext cx="5984341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0" name="Imagem 9" descr="Logotipo&#10;&#10;O conteúdo gerado por IA pode estar incorreto.">
            <a:extLst>
              <a:ext uri="{FF2B5EF4-FFF2-40B4-BE49-F238E27FC236}">
                <a16:creationId xmlns:a16="http://schemas.microsoft.com/office/drawing/2014/main" id="{5CF83D73-95F5-DBC9-F97C-BF7AD9B0F4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1033" y="519446"/>
            <a:ext cx="751701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67639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03050-7BE0-A156-446B-1D53469C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 descr="Empresária segurando um cartaz">
            <a:extLst>
              <a:ext uri="{FF2B5EF4-FFF2-40B4-BE49-F238E27FC236}">
                <a16:creationId xmlns:a16="http://schemas.microsoft.com/office/drawing/2014/main" id="{F7EB728E-18ED-BAF2-B776-C5DB4CFCF0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02" y="1623088"/>
            <a:ext cx="2918999" cy="4373145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4D6CE2E3-CF70-1476-D3DF-4DA6C6D224DF}"/>
              </a:ext>
            </a:extLst>
          </p:cNvPr>
          <p:cNvSpPr/>
          <p:nvPr/>
        </p:nvSpPr>
        <p:spPr>
          <a:xfrm>
            <a:off x="7068614" y="5856899"/>
            <a:ext cx="301717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4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Muito Obrigado!!!   </a:t>
            </a:r>
            <a:endParaRPr lang="pt-BR" sz="2400" b="1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ectangle">
            <a:extLst>
              <a:ext uri="{FF2B5EF4-FFF2-40B4-BE49-F238E27FC236}">
                <a16:creationId xmlns:a16="http://schemas.microsoft.com/office/drawing/2014/main" id="{962AC7FD-ECEA-A8E4-92B6-68A0525FCDAB}"/>
              </a:ext>
            </a:extLst>
          </p:cNvPr>
          <p:cNvSpPr/>
          <p:nvPr/>
        </p:nvSpPr>
        <p:spPr>
          <a:xfrm>
            <a:off x="1" y="-38100"/>
            <a:ext cx="12206576" cy="510361"/>
          </a:xfrm>
          <a:prstGeom prst="rect">
            <a:avLst/>
          </a:prstGeom>
          <a:solidFill>
            <a:srgbClr val="1B4582"/>
          </a:solidFill>
          <a:ln w="25400">
            <a:solidFill>
              <a:srgbClr val="1B458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7" name="SENAC EAD TECNOLOGIA EM GASTRONOMIA">
            <a:extLst>
              <a:ext uri="{FF2B5EF4-FFF2-40B4-BE49-F238E27FC236}">
                <a16:creationId xmlns:a16="http://schemas.microsoft.com/office/drawing/2014/main" id="{E4C74732-0A95-7F6E-084A-A89BF1325ABA}"/>
              </a:ext>
            </a:extLst>
          </p:cNvPr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b="0" dirty="0"/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F982F91C-CB72-5C0C-7F50-A52E0F3C4850}"/>
              </a:ext>
            </a:extLst>
          </p:cNvPr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" name="SENAC EAD TECNOLOGIA EM GASTRONOMIA">
            <a:extLst>
              <a:ext uri="{FF2B5EF4-FFF2-40B4-BE49-F238E27FC236}">
                <a16:creationId xmlns:a16="http://schemas.microsoft.com/office/drawing/2014/main" id="{523287A8-7D38-7915-2E23-191F6489F78F}"/>
              </a:ext>
            </a:extLst>
          </p:cNvPr>
          <p:cNvSpPr txBox="1"/>
          <p:nvPr/>
        </p:nvSpPr>
        <p:spPr>
          <a:xfrm>
            <a:off x="297201" y="100625"/>
            <a:ext cx="5151859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SENAC EAD </a:t>
            </a:r>
            <a:r>
              <a:rPr lang="pt-BR" dirty="0"/>
              <a:t>– TADS / TSI </a:t>
            </a:r>
            <a:endParaRPr b="0" dirty="0"/>
          </a:p>
        </p:txBody>
      </p:sp>
      <p:sp>
        <p:nvSpPr>
          <p:cNvPr id="3" name="DISCIPLINA - HABILIDADES DE CONFEITARIA">
            <a:extLst>
              <a:ext uri="{FF2B5EF4-FFF2-40B4-BE49-F238E27FC236}">
                <a16:creationId xmlns:a16="http://schemas.microsoft.com/office/drawing/2014/main" id="{0F8A530B-F66E-F59E-3F33-840994107E80}"/>
              </a:ext>
            </a:extLst>
          </p:cNvPr>
          <p:cNvSpPr txBox="1"/>
          <p:nvPr/>
        </p:nvSpPr>
        <p:spPr>
          <a:xfrm>
            <a:off x="6635261" y="124250"/>
            <a:ext cx="557131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defTabSz="457200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lang="pt-BR" b="1" dirty="0"/>
              <a:t>Projeto  Integrador   </a:t>
            </a:r>
            <a:endParaRPr b="1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E92449AF-28E8-6C4F-60DB-B4235EFA23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F329317-7632-B9FF-228A-A436AEDC5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BB7F979-4C36-9D36-3395-A145583B0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92DF7AC-1176-6695-B5B4-41D1F6098BDF}"/>
              </a:ext>
            </a:extLst>
          </p:cNvPr>
          <p:cNvSpPr txBox="1"/>
          <p:nvPr/>
        </p:nvSpPr>
        <p:spPr>
          <a:xfrm>
            <a:off x="5042780" y="3675707"/>
            <a:ext cx="5984341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657A6E7-007E-9B87-4F5D-9AC31441C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856" y="653409"/>
            <a:ext cx="7206097" cy="4804064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20519741-55B6-AEA0-BA0E-6A73232B7E92}"/>
              </a:ext>
            </a:extLst>
          </p:cNvPr>
          <p:cNvSpPr/>
          <p:nvPr/>
        </p:nvSpPr>
        <p:spPr>
          <a:xfrm>
            <a:off x="1560908" y="2967335"/>
            <a:ext cx="173797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4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Dúvida ?   </a:t>
            </a:r>
            <a:endParaRPr lang="pt-BR" sz="2400" b="1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188529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Screenshot 2025-03-26 at 12.56.57.png" descr="Screenshot 2025-03-26 at 12.56.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" y="-2331"/>
            <a:ext cx="12230101" cy="6862662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CALENDÁRIO"/>
          <p:cNvSpPr txBox="1"/>
          <p:nvPr/>
        </p:nvSpPr>
        <p:spPr>
          <a:xfrm>
            <a:off x="838622" y="469029"/>
            <a:ext cx="2728741" cy="535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100" b="1">
                <a:solidFill>
                  <a:srgbClr val="1C488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CALENDÁRIO</a:t>
            </a:r>
          </a:p>
        </p:txBody>
      </p:sp>
      <p:pic>
        <p:nvPicPr>
          <p:cNvPr id="77" name="capa_EAD contracapa.jpg" descr="capa_EAD contracap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1194</TotalTime>
  <Words>450</Words>
  <Application>Microsoft Office PowerPoint</Application>
  <PresentationFormat>Widescreen</PresentationFormat>
  <Paragraphs>59</Paragraphs>
  <Slides>16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Abadi</vt:lpstr>
      <vt:lpstr>Arial</vt:lpstr>
      <vt:lpstr>Calibri</vt:lpstr>
      <vt:lpstr>Helvetica Neue</vt:lpstr>
      <vt:lpstr>Office Theme</vt:lpstr>
      <vt:lpstr> PROJETO INTEGRADOR: DESENVOLVIMENTO DE SISTEMAS ORIENTADO A DISPOSITIVOS MÓVEIS E BASEADOS NA WEB  2º Etapa – Projeto Integrador – Prof.Me Anderson Clayton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Andrea Cristina Marin</dc:creator>
  <cp:lastModifiedBy>ANDERSON CLAYTON GARCIA LOPES</cp:lastModifiedBy>
  <cp:revision>14</cp:revision>
  <dcterms:modified xsi:type="dcterms:W3CDTF">2026-04-09T15:28:35Z</dcterms:modified>
</cp:coreProperties>
</file>